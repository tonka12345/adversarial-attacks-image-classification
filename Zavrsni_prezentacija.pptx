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6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 rtl="0">
      <a:defRPr lang="hr-H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F571B8-7239-E96F-1B51-9AA27FD3C44E}" v="774" dt="2025-07-02T21:48:52.793"/>
    <p1510:client id="{F2104471-E091-E961-23CC-F2D21F6668EF}" v="993" dt="2025-07-02T23:03:56.7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6623" autoAdjust="0"/>
  </p:normalViewPr>
  <p:slideViewPr>
    <p:cSldViewPr snapToGrid="0">
      <p:cViewPr varScale="1">
        <p:scale>
          <a:sx n="116" d="100"/>
          <a:sy n="116" d="100"/>
        </p:scale>
        <p:origin x="10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>
            <a:extLst>
              <a:ext uri="{FF2B5EF4-FFF2-40B4-BE49-F238E27FC236}">
                <a16:creationId xmlns:a16="http://schemas.microsoft.com/office/drawing/2014/main" id="{821C8997-B2FC-4350-B637-52941B0D46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BA321B01-4DF3-4193-896D-D81A48C35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6BA8E-4852-4796-B02A-6EF7DC91037B}" type="datetime1">
              <a:rPr lang="hr-HR" smtClean="0"/>
              <a:t>2.7.2025.</a:t>
            </a:fld>
            <a:endParaRPr lang="hr-HR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E4BA3764-F255-491C-B54F-BE239C0174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76F64321-6D8E-4E87-9915-3F9F1EB7D6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37DF6-CF05-42F6-853D-97D3816D2CC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610210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 dirty="0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A585E-DB1B-464E-8EFC-27487C9CB92F}" type="datetime1">
              <a:rPr lang="hr-HR" smtClean="0"/>
              <a:pPr/>
              <a:t>2.7.2025.</a:t>
            </a:fld>
            <a:endParaRPr lang="hr-HR" dirty="0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 dirty="0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r-HR" noProof="0" dirty="0"/>
              <a:t>Kliknite da biste uredili stilove teksta matrice</a:t>
            </a:r>
          </a:p>
          <a:p>
            <a:pPr lvl="1"/>
            <a:r>
              <a:rPr lang="hr-HR" dirty="0"/>
              <a:t>Druga razina</a:t>
            </a:r>
          </a:p>
          <a:p>
            <a:pPr lvl="2"/>
            <a:r>
              <a:rPr lang="hr-HR" dirty="0"/>
              <a:t>Treća razina</a:t>
            </a:r>
          </a:p>
          <a:p>
            <a:pPr lvl="3"/>
            <a:r>
              <a:rPr lang="hr-HR" dirty="0"/>
              <a:t>Četvrta razina</a:t>
            </a:r>
          </a:p>
          <a:p>
            <a:pPr lvl="4"/>
            <a:r>
              <a:rPr lang="hr-HR" dirty="0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 dirty="0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0AAFD-D569-4F8A-A9B8-D8C98C52297A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65091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0AAFD-D569-4F8A-A9B8-D8C98C52297A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89376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602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456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16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34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16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99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41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50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60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01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337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03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rtlCol="0" anchor="b">
            <a:normAutofit/>
          </a:bodyPr>
          <a:lstStyle/>
          <a:p>
            <a:r>
              <a:rPr lang="hr-HR" sz="7400"/>
              <a:t>Suparnički napadi na modele za klasifikaciju slika</a:t>
            </a:r>
            <a:endParaRPr lang="sr-Latn-RS" sz="740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 rtlCol="0">
            <a:normAutofit/>
          </a:bodyPr>
          <a:lstStyle/>
          <a:p>
            <a:r>
              <a:rPr lang="hr-HR"/>
              <a:t>Tonka </a:t>
            </a:r>
            <a:r>
              <a:rPr lang="hr-HR" err="1"/>
              <a:t>Šegvić</a:t>
            </a:r>
            <a:endParaRPr lang="sr-Latn-RS" err="1"/>
          </a:p>
          <a:p>
            <a:r>
              <a:rPr lang="hr-HR"/>
              <a:t>Prezentacija za obranu završnog rada 4.7.2025.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6E6C37E6-0211-E4B4-6D6F-91678FD8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BE6DE2C-FEE7-455B-8145-DC3F8D92E33F}" type="datetime1">
              <a:rPr lang="en-US"/>
              <a:pPr>
                <a:spcAft>
                  <a:spcPts val="600"/>
                </a:spcAft>
              </a:pPr>
              <a:t>7/2/2025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7AA1ECCA-4ABF-5A61-927E-52CAAB49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40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59DD533-DAA8-B238-6F29-20A360CD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SUPARNIČKI NAPADI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773D777-E4E3-CB50-85AA-09DE5DE4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hr-HR" dirty="0"/>
              <a:t>Cilj rada bio je pokazati kako dodavanje male perturbacije na ulaz može drastično utjecati na točnost klasifikacijskih modela</a:t>
            </a:r>
            <a:endParaRPr lang="en-US" dirty="0"/>
          </a:p>
          <a:p>
            <a:endParaRPr lang="hr-HR" dirty="0"/>
          </a:p>
          <a:p>
            <a:r>
              <a:rPr lang="hr-HR" dirty="0" err="1"/>
              <a:t>Razlličiti</a:t>
            </a:r>
            <a:r>
              <a:rPr lang="hr-HR" dirty="0"/>
              <a:t> napadi imaju različite strategije za odabir perturbacije </a:t>
            </a:r>
            <a:endParaRPr lang="en-US" dirty="0"/>
          </a:p>
          <a:p>
            <a:r>
              <a:rPr lang="hr-HR" dirty="0"/>
              <a:t>FGSM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83A2F1E-A739-1CD2-4C2C-B46BD2900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3B92-1E82-41FD-B0DD-5D0FA5897ADB}" type="datetime1">
              <a:t>2.7.2025.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6C1048C3-DA0B-D336-4DA8-AA28482D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</a:t>
            </a:fld>
            <a:endParaRPr lang="en-US" dirty="0"/>
          </a:p>
        </p:txBody>
      </p:sp>
      <p:pic>
        <p:nvPicPr>
          <p:cNvPr id="8" name="Slika 7" descr="Slika na kojoj se prikazuje Font, bijelo, simbol, grafika&#10;&#10;Sadržaj generiran uz AI možda nije točan.">
            <a:extLst>
              <a:ext uri="{FF2B5EF4-FFF2-40B4-BE49-F238E27FC236}">
                <a16:creationId xmlns:a16="http://schemas.microsoft.com/office/drawing/2014/main" id="{5DA8ADF8-C3E3-A9DD-EF51-E4FE6F255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363" y="3681413"/>
            <a:ext cx="20383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6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E6F6A37-6D41-EBCD-DFA2-AF1AD732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FGSM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88450474-CBF3-47E3-092D-889EE6143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47C0-0DAB-4F15-B253-D6124CC1AE16}" type="datetime1">
              <a:t>2.7.2025.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22A478B8-E285-4A27-CAF5-92DA60FC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3</a:t>
            </a:fld>
            <a:endParaRPr lang="en-US" dirty="0"/>
          </a:p>
        </p:txBody>
      </p:sp>
      <p:sp>
        <p:nvSpPr>
          <p:cNvPr id="9" name="Rezervirano mjesto sadržaja 8">
            <a:extLst>
              <a:ext uri="{FF2B5EF4-FFF2-40B4-BE49-F238E27FC236}">
                <a16:creationId xmlns:a16="http://schemas.microsoft.com/office/drawing/2014/main" id="{54488924-2EB3-F16B-5913-6625152B1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r>
              <a:rPr lang="hr-HR" dirty="0"/>
              <a:t>Black-</a:t>
            </a:r>
            <a:r>
              <a:rPr lang="hr-HR" dirty="0" err="1"/>
              <a:t>box</a:t>
            </a:r>
            <a:r>
              <a:rPr lang="hr-HR" dirty="0"/>
              <a:t> napad</a:t>
            </a:r>
          </a:p>
        </p:txBody>
      </p:sp>
      <p:pic>
        <p:nvPicPr>
          <p:cNvPr id="12" name="Slika 11" descr="Slika na kojoj se prikazuje tekst, Font, rukopis, bijelo&#10;&#10;Sadržaj generiran uz AI možda nije točan.">
            <a:extLst>
              <a:ext uri="{FF2B5EF4-FFF2-40B4-BE49-F238E27FC236}">
                <a16:creationId xmlns:a16="http://schemas.microsoft.com/office/drawing/2014/main" id="{A4CD7635-D71B-9A0D-2FD0-831E264F5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942" y="2298246"/>
            <a:ext cx="5634717" cy="30779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35710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5F39530-4008-C42F-8D3A-2BC1766D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Ciljani napad</a:t>
            </a:r>
          </a:p>
        </p:txBody>
      </p:sp>
      <p:pic>
        <p:nvPicPr>
          <p:cNvPr id="7" name="Rezervirano mjesto sadržaja 6" descr="Slika na kojoj se prikazuje Font, tekst, bijelo, kaligrafija&#10;&#10;Sadržaj generiran uz AI možda nije točan.">
            <a:extLst>
              <a:ext uri="{FF2B5EF4-FFF2-40B4-BE49-F238E27FC236}">
                <a16:creationId xmlns:a16="http://schemas.microsoft.com/office/drawing/2014/main" id="{E601F75C-AE55-BFE2-821D-4C6E5D68A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6369" y="2977325"/>
            <a:ext cx="6276975" cy="1419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C9B07BCA-9DBA-6B2A-E50D-0245C2656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D3F4-1CD5-46EA-B362-BD87FC635075}" type="datetime1">
              <a:t>2.7.2025.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9F77BEE-000E-6B41-DB4C-5FD914ED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14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097607B-EE8A-D8CF-F055-210D2AE84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Generiranje suparničkih primjera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23C63B5-E90E-D5E6-1191-3587340EB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Dodavanje perturbacije na slike iz ispitnog skupa</a:t>
            </a:r>
          </a:p>
          <a:p>
            <a:r>
              <a:rPr lang="hr-HR" dirty="0"/>
              <a:t>Samo ako se slika inicijalno točno klasificira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CC30B253-4092-CAEB-A1AF-173D1695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F404-6045-4BFD-BA3E-97BBC019565E}" type="datetime1">
              <a:t>7/2/2025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12F00FAB-4BC1-AEE8-EBD3-7A1E6B6A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152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5AC6FD4-593F-A409-9E82-F1FA048B7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/>
              <a:t>Potpuno povezani model za klasifikaciju skupa MNIST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D68AF72-67CC-22EE-6CF7-615E35143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 err="1"/>
              <a:t>sgd</a:t>
            </a:r>
            <a:r>
              <a:rPr lang="hr-HR" dirty="0"/>
              <a:t>, 10 epoha</a:t>
            </a:r>
          </a:p>
          <a:p>
            <a:r>
              <a:rPr lang="hr-HR" dirty="0"/>
              <a:t>784x512x64x10</a:t>
            </a:r>
          </a:p>
          <a:p>
            <a:r>
              <a:rPr lang="hr-HR" dirty="0" err="1"/>
              <a:t>ReLu</a:t>
            </a:r>
            <a:r>
              <a:rPr lang="hr-HR" dirty="0"/>
              <a:t>, </a:t>
            </a:r>
            <a:r>
              <a:rPr lang="hr-HR" dirty="0" err="1"/>
              <a:t>LogSoftmax</a:t>
            </a:r>
            <a:endParaRPr lang="hr-HR" dirty="0"/>
          </a:p>
          <a:p>
            <a:r>
              <a:rPr lang="hr-HR" dirty="0"/>
              <a:t>NLL</a:t>
            </a:r>
          </a:p>
          <a:p>
            <a:r>
              <a:rPr lang="hr-HR" dirty="0"/>
              <a:t>70 000 </a:t>
            </a:r>
            <a:r>
              <a:rPr lang="hr-HR" dirty="0" err="1"/>
              <a:t>jednokanalnih</a:t>
            </a:r>
            <a:r>
              <a:rPr lang="hr-HR" dirty="0"/>
              <a:t> slika 28x28</a:t>
            </a:r>
          </a:p>
          <a:p>
            <a:r>
              <a:rPr lang="hr-HR" dirty="0"/>
              <a:t>10 klasa (znamenke)</a:t>
            </a:r>
          </a:p>
          <a:p>
            <a:endParaRPr lang="hr-HR" dirty="0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9EEF0A28-7DAC-2F40-1072-68030A74F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6E00-A4D8-43F8-982B-76AFD0F61658}" type="datetime1">
              <a:t>2.7.2025.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8AE52C27-E65D-8440-C334-4B1899D0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1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14D9AAF-0559-0BC0-8935-E1ADD625B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Točnost i gubitak</a:t>
            </a:r>
          </a:p>
        </p:txBody>
      </p:sp>
      <p:pic>
        <p:nvPicPr>
          <p:cNvPr id="8" name="Rezervirano mjesto sadržaja 7" descr="Slika na kojoj se prikazuje tekst, crta, radnja, dijagram&#10;&#10;Sadržaj generiran uz AI možda nije točan.">
            <a:extLst>
              <a:ext uri="{FF2B5EF4-FFF2-40B4-BE49-F238E27FC236}">
                <a16:creationId xmlns:a16="http://schemas.microsoft.com/office/drawing/2014/main" id="{DD5804F7-F1C9-0003-F6D4-2BA64E20B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2952" y="2239899"/>
            <a:ext cx="6099810" cy="3608451"/>
          </a:xfrm>
          <a:prstGeom prst="rect">
            <a:avLst/>
          </a:prstGeom>
        </p:spPr>
      </p:pic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E70D23B5-65D8-77E9-C19F-295811AA9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E4F9-F82B-47A7-BC96-8BB245019369}" type="datetime1">
              <a:t>2.7.2025.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23C14692-77BA-E103-69CF-1295EF4A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7</a:t>
            </a:fld>
            <a:endParaRPr lang="en-US" dirty="0"/>
          </a:p>
        </p:txBody>
      </p:sp>
      <p:pic>
        <p:nvPicPr>
          <p:cNvPr id="9" name="Slika 8" descr="Slika na kojoj se prikazuje tekst, dijagram, crta, radnja&#10;&#10;Sadržaj generiran uz AI možda nije točan.">
            <a:extLst>
              <a:ext uri="{FF2B5EF4-FFF2-40B4-BE49-F238E27FC236}">
                <a16:creationId xmlns:a16="http://schemas.microsoft.com/office/drawing/2014/main" id="{3133538B-EA60-C069-60D8-2970BA335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8375"/>
            <a:ext cx="60102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38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150F60D-BE9E-527A-5E5B-BB844ADC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MNIST, </a:t>
            </a:r>
            <a:r>
              <a:rPr lang="hr-HR" dirty="0" err="1"/>
              <a:t>neciljani</a:t>
            </a:r>
            <a:r>
              <a:rPr lang="hr-HR" dirty="0"/>
              <a:t> napad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65B93803-78EE-15F8-3B99-58FD7612D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4B62-26CD-4B73-95B8-F6134F609914}" type="datetime1">
              <a:t>2.7.2025.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7340FA95-35D0-FC59-F7F2-B47D584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8</a:t>
            </a:fld>
            <a:endParaRPr lang="en-US" dirty="0"/>
          </a:p>
        </p:txBody>
      </p:sp>
      <p:pic>
        <p:nvPicPr>
          <p:cNvPr id="10" name="Rezervirano mjesto sadržaja 9" descr="Slika na kojoj se prikazuje tekst, crta, radnja, dijagram&#10;&#10;Sadržaj generiran uz AI možda nije točan.">
            <a:extLst>
              <a:ext uri="{FF2B5EF4-FFF2-40B4-BE49-F238E27FC236}">
                <a16:creationId xmlns:a16="http://schemas.microsoft.com/office/drawing/2014/main" id="{34355264-BA1D-FF1F-E77D-094F7A342A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883" y="2331887"/>
            <a:ext cx="5544729" cy="3694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Slika 10" descr="Slika na kojoj se prikazuje tekst, Font, crno-bijelo, snimka zaslona&#10;&#10;Sadržaj generiran uz AI možda nije točan.">
            <a:extLst>
              <a:ext uri="{FF2B5EF4-FFF2-40B4-BE49-F238E27FC236}">
                <a16:creationId xmlns:a16="http://schemas.microsoft.com/office/drawing/2014/main" id="{A08980C6-F305-5AF5-4627-2670819BEC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759" b="-153"/>
          <a:stretch>
            <a:fillRect/>
          </a:stretch>
        </p:blipFill>
        <p:spPr>
          <a:xfrm>
            <a:off x="7250616" y="647179"/>
            <a:ext cx="1690280" cy="53757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Slika 11" descr="Slika na kojoj se prikazuje tekst, Font, crno-bijelo, snimka zaslona&#10;&#10;Sadržaj generiran uz AI možda nije točan.">
            <a:extLst>
              <a:ext uri="{FF2B5EF4-FFF2-40B4-BE49-F238E27FC236}">
                <a16:creationId xmlns:a16="http://schemas.microsoft.com/office/drawing/2014/main" id="{3DC404D4-E952-5846-B12B-C125D52820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8919" b="-153"/>
          <a:stretch>
            <a:fillRect/>
          </a:stretch>
        </p:blipFill>
        <p:spPr>
          <a:xfrm>
            <a:off x="9192798" y="647178"/>
            <a:ext cx="1693126" cy="53757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79101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5E640CB-B1D0-00BF-7208-4818A8C7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MNIST, ciljani napad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76B633F-3D4E-A283-A49D-06FC7B19B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Ciljna klasa za klasu t je klasa t+1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FE4CDD40-AE71-8F71-9A00-1E83B79A5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F80C-D15B-41E2-8085-F392A79AF155}" type="datetime1">
              <a:t>7/2/2025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B05AFB4-AA4E-83F5-3DCE-D85E7124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9</a:t>
            </a:fld>
            <a:endParaRPr lang="en-US" dirty="0"/>
          </a:p>
        </p:txBody>
      </p:sp>
      <p:pic>
        <p:nvPicPr>
          <p:cNvPr id="7" name="Slika 6" descr="Slika na kojoj se prikazuje tekst, radnja, crta, dijagram&#10;&#10;Sadržaj generiran uz AI možda nije točan.">
            <a:extLst>
              <a:ext uri="{FF2B5EF4-FFF2-40B4-BE49-F238E27FC236}">
                <a16:creationId xmlns:a16="http://schemas.microsoft.com/office/drawing/2014/main" id="{6AB21507-09FB-B1F2-343C-4EF974357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190875"/>
            <a:ext cx="4162425" cy="2781300"/>
          </a:xfrm>
          <a:prstGeom prst="rect">
            <a:avLst/>
          </a:prstGeom>
        </p:spPr>
      </p:pic>
      <p:pic>
        <p:nvPicPr>
          <p:cNvPr id="8" name="Slika 7" descr="Slika na kojoj se prikazuje tekst, crno-bijelo, Font, snimka zaslona&#10;&#10;Sadržaj generiran uz AI možda nije točan.">
            <a:extLst>
              <a:ext uri="{FF2B5EF4-FFF2-40B4-BE49-F238E27FC236}">
                <a16:creationId xmlns:a16="http://schemas.microsoft.com/office/drawing/2014/main" id="{62CACB1E-B4B2-1C6E-8E57-D2D7B52DF3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947" b="30274"/>
          <a:stretch>
            <a:fillRect/>
          </a:stretch>
        </p:blipFill>
        <p:spPr>
          <a:xfrm>
            <a:off x="8830925" y="1390650"/>
            <a:ext cx="2164360" cy="47818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8832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FDEFA5B-99D1-28CA-A69E-AE03114B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Resnet-20 za klasifikaciju skupa CIFAR-100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9FF78FB-B912-84AB-F7B9-81163E796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 err="1"/>
              <a:t>Predtrenirani</a:t>
            </a:r>
            <a:r>
              <a:rPr lang="hr-HR" dirty="0"/>
              <a:t> model</a:t>
            </a:r>
            <a:endParaRPr lang="sr-Latn-RS" dirty="0"/>
          </a:p>
          <a:p>
            <a:r>
              <a:rPr lang="hr-HR" dirty="0"/>
              <a:t>točnost 68.83% na CIFAR-100 ispitnom skupu</a:t>
            </a:r>
            <a:endParaRPr lang="hr-HR"/>
          </a:p>
          <a:p>
            <a:r>
              <a:rPr lang="hr-HR" dirty="0"/>
              <a:t>20 slojeva, rezidualne veze</a:t>
            </a:r>
          </a:p>
          <a:p>
            <a:r>
              <a:rPr lang="hr-HR" dirty="0"/>
              <a:t>60 000 </a:t>
            </a:r>
            <a:r>
              <a:rPr lang="hr-HR" dirty="0" err="1"/>
              <a:t>trokanalnih</a:t>
            </a:r>
            <a:r>
              <a:rPr lang="hr-HR" dirty="0"/>
              <a:t> slika (RGB) 32x32</a:t>
            </a:r>
          </a:p>
          <a:p>
            <a:r>
              <a:rPr lang="hr-HR" dirty="0"/>
              <a:t>100 klasa podijeljenih u 20 </a:t>
            </a:r>
            <a:r>
              <a:rPr lang="hr-HR" dirty="0" err="1"/>
              <a:t>nadklasa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C441419E-654B-EB55-994E-1E0C9656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B704-5D63-42BB-976C-628EEC76AAAF}" type="datetime1">
              <a:t>7/2/2025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8CE9E0AF-EFD9-D305-1650-3E458E5F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33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92A7DE9-496C-742C-C060-75DC5D38A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CIFAR-100 </a:t>
            </a:r>
            <a:r>
              <a:rPr lang="hr-HR" dirty="0" err="1"/>
              <a:t>Neciljani</a:t>
            </a:r>
            <a:r>
              <a:rPr lang="hr-HR" dirty="0"/>
              <a:t> napad</a:t>
            </a:r>
          </a:p>
        </p:txBody>
      </p:sp>
      <p:pic>
        <p:nvPicPr>
          <p:cNvPr id="7" name="Rezervirano mjesto sadržaja 6" descr="Slika na kojoj se prikazuje tekst, crta, radnja, dijagram&#10;&#10;Sadržaj generiran uz AI možda nije točan.">
            <a:extLst>
              <a:ext uri="{FF2B5EF4-FFF2-40B4-BE49-F238E27FC236}">
                <a16:creationId xmlns:a16="http://schemas.microsoft.com/office/drawing/2014/main" id="{F9A1D183-0CA9-5E6D-D506-08C13F9A4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529" y="2201799"/>
            <a:ext cx="5586656" cy="3694176"/>
          </a:xfrm>
          <a:prstGeom prst="rect">
            <a:avLst/>
          </a:prstGeom>
        </p:spPr>
      </p:pic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FC78B8B0-D16A-85C1-825F-34DB7B2E6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FF5-4B6B-4181-B7B7-667CC4584839}" type="datetime1">
              <a:t>7/2/2025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884AACD4-854D-1861-5C91-8F8E71254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11</a:t>
            </a:fld>
            <a:endParaRPr lang="en-US" dirty="0"/>
          </a:p>
        </p:txBody>
      </p:sp>
      <p:pic>
        <p:nvPicPr>
          <p:cNvPr id="8" name="Slika 7" descr="Slika na kojoj se prikazuje tekst, snimka zaslona, plivanje, kolaž&#10;&#10;Sadržaj generiran uz AI možda nije točan.">
            <a:extLst>
              <a:ext uri="{FF2B5EF4-FFF2-40B4-BE49-F238E27FC236}">
                <a16:creationId xmlns:a16="http://schemas.microsoft.com/office/drawing/2014/main" id="{DEC4DED6-DC85-4EE4-807E-11CB607EE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100" y="1619250"/>
            <a:ext cx="46552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72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4A9AE56-1242-37FF-75BF-A9F47B7E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CIFAR-100, Ciljani napad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409E3F6-9AA6-DD76-C486-078B911F2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Hijerarhijska struktura</a:t>
            </a:r>
          </a:p>
          <a:p>
            <a:r>
              <a:rPr lang="hr-HR" dirty="0"/>
              <a:t>Napad kada je ciljna klasa u istoj </a:t>
            </a:r>
            <a:r>
              <a:rPr lang="hr-HR" dirty="0" err="1"/>
              <a:t>nadklasi</a:t>
            </a:r>
            <a:r>
              <a:rPr lang="hr-HR" dirty="0"/>
              <a:t> kao inicijalna klasa</a:t>
            </a:r>
          </a:p>
          <a:p>
            <a:r>
              <a:rPr lang="hr-HR" dirty="0"/>
              <a:t>Napad kada ciljna klasa nije u istoj </a:t>
            </a:r>
            <a:r>
              <a:rPr lang="hr-HR" dirty="0" err="1"/>
              <a:t>nadklasi</a:t>
            </a:r>
            <a:r>
              <a:rPr lang="hr-HR" dirty="0"/>
              <a:t> kao inicijalna klasa</a:t>
            </a:r>
            <a:endParaRPr lang="en-US" dirty="0"/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84AAF1D5-FDF1-F572-1998-22D05457B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AF86-ED86-4CD7-AA07-75FA0C6EEB4A}" type="datetime1">
              <a:t>7/2/2025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E658987E-C230-1765-E220-CD2FA715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446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505F08B-8EB6-3F64-FBDB-30BA13AC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Ciljna klasa u istoj </a:t>
            </a:r>
            <a:r>
              <a:rPr lang="hr-HR" dirty="0" err="1"/>
              <a:t>nadklasi</a:t>
            </a:r>
          </a:p>
        </p:txBody>
      </p:sp>
      <p:pic>
        <p:nvPicPr>
          <p:cNvPr id="7" name="Rezervirano mjesto sadržaja 6" descr="Slika na kojoj se prikazuje sisavac, majmun, lav, tekst&#10;&#10;Sadržaj generiran uz AI možda nije točan.">
            <a:extLst>
              <a:ext uri="{FF2B5EF4-FFF2-40B4-BE49-F238E27FC236}">
                <a16:creationId xmlns:a16="http://schemas.microsoft.com/office/drawing/2014/main" id="{0A5A0A49-A463-E42A-4ED4-829A19A38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3442" y="1735074"/>
            <a:ext cx="4461705" cy="4379976"/>
          </a:xfrm>
          <a:prstGeom prst="rect">
            <a:avLst/>
          </a:prstGeom>
        </p:spPr>
      </p:pic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9522AE65-EA0C-5E71-B379-F7CE8DBC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D560-D7BA-4C5F-97E0-FBB6C18E4FCE}" type="datetime1">
              <a:t>7/2/2025</a:t>
            </a:fld>
            <a:endParaRPr lang="en-US" dirty="0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2AE78E67-8F8E-A8F8-205F-0C926807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F8063151-61F7-B9B0-5291-0B33A06DF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13</a:t>
            </a:fld>
            <a:endParaRPr lang="en-US" dirty="0"/>
          </a:p>
        </p:txBody>
      </p:sp>
      <p:pic>
        <p:nvPicPr>
          <p:cNvPr id="8" name="Slika 7" descr="Slika na kojoj se prikazuje crta, radnja, dijagram, tekst&#10;&#10;Sadržaj generiran uz AI možda nije točan.">
            <a:extLst>
              <a:ext uri="{FF2B5EF4-FFF2-40B4-BE49-F238E27FC236}">
                <a16:creationId xmlns:a16="http://schemas.microsoft.com/office/drawing/2014/main" id="{923062E5-1983-696C-E8F0-D16327754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1928813"/>
            <a:ext cx="625792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28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DD57963-FB4D-7BB3-FB13-E32D36E3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Ciljna klasa u različitoj </a:t>
            </a:r>
            <a:r>
              <a:rPr lang="hr-HR" dirty="0" err="1"/>
              <a:t>nadklasi</a:t>
            </a:r>
          </a:p>
        </p:txBody>
      </p:sp>
      <p:pic>
        <p:nvPicPr>
          <p:cNvPr id="7" name="Rezervirano mjesto sadržaja 6" descr="Slika na kojoj se prikazuje tekst, crta, radnja, dijagram&#10;&#10;Sadržaj generiran uz AI možda nije točan.">
            <a:extLst>
              <a:ext uri="{FF2B5EF4-FFF2-40B4-BE49-F238E27FC236}">
                <a16:creationId xmlns:a16="http://schemas.microsoft.com/office/drawing/2014/main" id="{F93CC0E1-C741-0CC6-C387-9C1195F78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334" y="2306574"/>
            <a:ext cx="5534346" cy="3694176"/>
          </a:xfrm>
          <a:prstGeom prst="rect">
            <a:avLst/>
          </a:prstGeom>
        </p:spPr>
      </p:pic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7747C0E6-9D1C-59D7-D915-2E16AF6B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95A71-9F06-4D28-89F1-51EABFD5E2C3}" type="datetime1">
              <a:t>7/2/2025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4F01851B-124C-009A-DBAB-E4EF7ADE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14</a:t>
            </a:fld>
            <a:endParaRPr lang="en-US" dirty="0"/>
          </a:p>
        </p:txBody>
      </p:sp>
      <p:pic>
        <p:nvPicPr>
          <p:cNvPr id="8" name="Slika 7" descr="Slika na kojoj se prikazuje sisavac, tekst, vanjski&#10;&#10;Sadržaj generiran uz AI možda nije točan.">
            <a:extLst>
              <a:ext uri="{FF2B5EF4-FFF2-40B4-BE49-F238E27FC236}">
                <a16:creationId xmlns:a16="http://schemas.microsoft.com/office/drawing/2014/main" id="{A3A715A3-B055-DF5F-A424-9F6AA56F15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50" r="-142"/>
          <a:stretch>
            <a:fillRect/>
          </a:stretch>
        </p:blipFill>
        <p:spPr>
          <a:xfrm>
            <a:off x="6582181" y="1905000"/>
            <a:ext cx="4361655" cy="43338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81931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034A216-1613-DAA7-1453-1AE6CD3C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Robusnost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C2868BC-61D1-7FBB-63E1-615412FC2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Lakše je napraviti uspješan </a:t>
            </a:r>
            <a:r>
              <a:rPr lang="hr-HR" dirty="0" err="1"/>
              <a:t>neciljani</a:t>
            </a:r>
            <a:r>
              <a:rPr lang="hr-HR" dirty="0"/>
              <a:t> napad na modelu Resnet-20</a:t>
            </a:r>
          </a:p>
          <a:p>
            <a:r>
              <a:rPr lang="hr-HR" dirty="0"/>
              <a:t>Uspješnost ciljanog napada je veća za potpuno povezani model</a:t>
            </a:r>
          </a:p>
          <a:p>
            <a:endParaRPr lang="hr-HR" dirty="0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B4AC5E0E-6E78-EB47-F8DC-7CB06A0FA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C8D9-58F4-4A25-851C-9F462A34BDAC}" type="datetime1">
              <a:t>7/2/2025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54FED86D-C45A-F436-0D8C-A8DA60B2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01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C53EA7-C65D-FB11-0F16-B3E4B2ACE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Zaključak i budući rad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52D7D6A-C47A-624B-C46A-C9E1BC45E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Rad pokazuje ranjivosti modela koji postižu dobre rezultate na ispitnim skupovima na suparničke primjere</a:t>
            </a:r>
          </a:p>
          <a:p>
            <a:endParaRPr lang="hr-HR" dirty="0"/>
          </a:p>
          <a:p>
            <a:r>
              <a:rPr lang="hr-HR" dirty="0"/>
              <a:t>Budući rad bi mogao uključivati: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hr-HR" dirty="0"/>
              <a:t>Suparničko treniranje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hr-HR" dirty="0"/>
              <a:t>Implementacija novih napada (PGD)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hr-HR" dirty="0"/>
              <a:t>Primjena FGSM-a na nove modele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hr-HR" dirty="0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3F022F9F-FAED-F61A-7070-10A527EC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5495-304E-46E9-9D0E-46441B9D693E}" type="datetime1">
              <a:t>7/2/2025</a:t>
            </a:fld>
            <a:endParaRPr lang="en-US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709E75AA-9637-6F40-3186-2F1843B2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964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4B88765-0CAA-5052-2164-14271BFF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 anchor="ctr">
            <a:normAutofit/>
          </a:bodyPr>
          <a:lstStyle/>
          <a:p>
            <a:r>
              <a:rPr lang="hr-HR" dirty="0"/>
              <a:t>Hvala na pozornosti!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BA4EC0F3-283B-4F9F-A6D9-A92E2361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D69EFF2-622C-4143-98D5-ED6950874D07}" type="datetime1">
              <a:pPr>
                <a:spcAft>
                  <a:spcPts val="600"/>
                </a:spcAft>
              </a:pPr>
              <a:t>7/2/2025</a:t>
            </a:fld>
            <a:endParaRPr lang="en-US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B0EDD868-8D1F-C08D-9D76-EEBD031AA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dirty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7431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</Words>
  <Application>Microsoft Office PowerPoint</Application>
  <PresentationFormat>Široki zaslon</PresentationFormat>
  <Paragraphs>1</Paragraphs>
  <Slides>17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17</vt:i4>
      </vt:variant>
    </vt:vector>
  </HeadingPairs>
  <TitlesOfParts>
    <vt:vector size="18" baseType="lpstr">
      <vt:lpstr>AccentBoxVTI</vt:lpstr>
      <vt:lpstr>Suparnički napadi na modele za klasifikaciju slika</vt:lpstr>
      <vt:lpstr>SUPARNIČKI NAPADI</vt:lpstr>
      <vt:lpstr>FGSM</vt:lpstr>
      <vt:lpstr>Ciljani napad</vt:lpstr>
      <vt:lpstr>Generiranje suparničkih primjera</vt:lpstr>
      <vt:lpstr>Potpuno povezani model za klasifikaciju skupa MNIST</vt:lpstr>
      <vt:lpstr>Točnost i gubitak</vt:lpstr>
      <vt:lpstr>MNIST, neciljani napad</vt:lpstr>
      <vt:lpstr>MNIST, ciljani napad</vt:lpstr>
      <vt:lpstr>Resnet-20 za klasifikaciju skupa CIFAR-100</vt:lpstr>
      <vt:lpstr>CIFAR-100 Neciljani napad</vt:lpstr>
      <vt:lpstr>CIFAR-100, Ciljani napad</vt:lpstr>
      <vt:lpstr>Ciljna klasa u istoj nadklasi</vt:lpstr>
      <vt:lpstr>Ciljna klasa u različitoj nadklasi</vt:lpstr>
      <vt:lpstr>Robusnost</vt:lpstr>
      <vt:lpstr>Zaključak i budući rad</vt:lpstr>
      <vt:lpstr>Hvala na pozornosti!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576</cp:revision>
  <dcterms:created xsi:type="dcterms:W3CDTF">2025-07-02T16:21:20Z</dcterms:created>
  <dcterms:modified xsi:type="dcterms:W3CDTF">2025-07-02T23:07:40Z</dcterms:modified>
</cp:coreProperties>
</file>